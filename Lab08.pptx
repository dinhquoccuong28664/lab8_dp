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32828-CC9B-421A-BD55-054A11C2BE71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5F23F-F785-41DB-9938-3F401F4AA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70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5FD2-7F73-4039-A785-E677267BF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0592E-541A-4C31-BA20-C23B5148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BB478-F189-497B-B410-508B1A50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523D5-874B-4DCF-8700-26B72D56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C1ED0-86CB-4A68-9C09-3CBF6F1E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8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F194-27E1-407F-9F96-65BAFC800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55A43-D581-4EE2-BED4-133F81D71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Courier New" panose="02070309020205020404" pitchFamily="49" charset="0"/>
              <a:buChar char="o"/>
              <a:defRPr/>
            </a:lvl3pPr>
            <a:lvl4pPr marL="1600200" indent="-228600">
              <a:buFont typeface="Wingdings" panose="05000000000000000000" pitchFamily="2" charset="2"/>
              <a:buChar char="ü"/>
              <a:defRPr/>
            </a:lvl4pPr>
            <a:lvl5pPr marL="2057400" indent="-2286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6A880-006C-4810-AAD9-E8C3DACE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63D73-CB3F-406D-B8F1-69B2837A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A6CA1-B4C0-43D7-B37D-E9AD7393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9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D814-9517-4946-91D0-B6F3127A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B1E50-DE7D-435A-939B-6D28826E9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FB15-372A-4209-A1E0-3D6BDFC5A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9EC54-A71B-4B92-AEFD-073FC5665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C68AB-F24E-48DD-AC54-B6815979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3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FF42-397E-4C66-BE1B-B649A9368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8F10B-663E-45DA-AF7D-3BFBD13FF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0EE02-3AE5-4BEA-94EF-D5F05815C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18A27-3C52-428E-94B1-8E3B5F14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B411A-630E-447F-A7E7-71CDF3C0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E36B9-B025-49CC-887C-F453F9FC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4394-E63F-4FB6-BDD8-9CEBEF344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37CC1-444F-4017-B828-72FF6F293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B558E-6FCE-478F-8A31-12F31F458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FDF6C5-31C6-4D5A-A7F3-1AC934661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97490-98F6-4EF4-9BFF-BCA269A605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EDE0C-76F5-490A-BA1C-DCDD9520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997C90-88D1-48AB-8AB3-21ED4F546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51CFD0-0468-4F0B-B84F-538372AC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5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0998-9A47-4ABD-BDB3-1D6C726F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5FD18B-E4AB-4FDE-A6D9-0B76E24D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10F6A-991C-497B-BD26-E4974565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0567B-F6D2-4C37-B580-D8CEF999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32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02D3C-CEF7-43A4-A464-A0E6591AC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50D7F-9868-47AC-A48D-95F181F4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0A680-A978-4BD6-96B5-55B241BF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1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89553-5E6E-4CE2-AB7C-49C08F51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1B31E-0866-494E-BA2C-594915F1B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16139-D5CB-4DD5-9B38-1914895EA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FF0EE-FDDE-477C-B44A-E03AE0135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9907B-A6B4-4F27-B03F-79B91427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6538-65C9-4BF8-88A6-87FAC9ED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2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712D-6262-4CBE-B9A1-1E13832E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4D662-9CFF-4FA7-80D0-653ACCC3C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CB908-1FE3-43DD-832A-A3E467291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98C00-20F9-4299-BCB6-0F6AB027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FE9E7-8AA4-42B1-B9A6-99196006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94883-1928-4B2A-9A4C-631E2C7C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7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DA41-F492-4663-AB03-92B14363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113AC-8F49-4DE7-8E2E-8B8EA201E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99EC-D3C4-4AF3-BF98-2FAB837D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17035-4088-4251-BE3A-87053737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9E18F-7A96-414D-A148-A6D79A8A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03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32F47-E4B6-4AB5-970D-A9C097FD0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11FF4-67F6-46C0-BB63-37D81120B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621B7-CB61-419E-AA2E-4FD91997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E72AD-8B94-462E-9BAE-D56E592D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1C43-50CB-4BA9-AAFC-3EB8E5B0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6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1A121-37BD-45FA-A09A-DEA965A12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B6F05-6CEE-4D17-A256-B05553140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31668-3E10-4EDE-B5B4-21D711E43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8AAAD-4168-4670-BBBE-1C156602F8A3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D4784-DEDC-4663-8625-FC845F075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DDBC-CE03-4666-BA00-E6110A85D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A965F-58B0-4061-961C-F9400C56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7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3D7DE-9C07-479D-99CF-C927705AC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08</a:t>
            </a:r>
            <a:br>
              <a:rPr lang="en-US" dirty="0"/>
            </a:br>
            <a:r>
              <a:rPr lang="en-US" dirty="0"/>
              <a:t>Adapter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E753C-FAA8-4CF0-886E-F84888382B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 Le </a:t>
            </a:r>
            <a:r>
              <a:rPr lang="en-US" dirty="0" err="1"/>
              <a:t>Hoai</a:t>
            </a:r>
            <a:r>
              <a:rPr lang="en-US" dirty="0"/>
              <a:t> </a:t>
            </a:r>
            <a:r>
              <a:rPr lang="en-US" dirty="0" err="1"/>
              <a:t>Trung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543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AEB2F-01A7-4E43-884D-401FF470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CE48-7880-45F8-81B9-9223F29BF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0383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</a:t>
            </a:r>
            <a:r>
              <a:rPr lang="en-US" altLang="en-US" dirty="0" err="1"/>
              <a:t>lại</a:t>
            </a:r>
            <a:r>
              <a:rPr lang="en-US" altLang="en-US" dirty="0"/>
              <a:t> </a:t>
            </a:r>
            <a:r>
              <a:rPr lang="en-US" altLang="en-US" dirty="0" err="1"/>
              <a:t>bài</a:t>
            </a:r>
            <a:r>
              <a:rPr lang="en-US" altLang="en-US" dirty="0"/>
              <a:t> “simple FTP” </a:t>
            </a:r>
            <a:r>
              <a:rPr lang="en-US" altLang="en-US" dirty="0" err="1"/>
              <a:t>trong</a:t>
            </a:r>
            <a:r>
              <a:rPr lang="en-US" altLang="en-US" dirty="0"/>
              <a:t> slide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hiểu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tạo</a:t>
            </a:r>
            <a:r>
              <a:rPr lang="en-US" altLang="en-US" dirty="0"/>
              <a:t> Adapter</a:t>
            </a:r>
          </a:p>
          <a:p>
            <a:pPr algn="just"/>
            <a:r>
              <a:rPr lang="vi-VN" altLang="en-US" dirty="0"/>
              <a:t>Xây dựng website đọc tin tức có các chức năng cơ bản gồm (tham khảo giao diện của một</a:t>
            </a:r>
            <a:r>
              <a:rPr lang="en-US" altLang="en-US" dirty="0"/>
              <a:t> </a:t>
            </a:r>
            <a:r>
              <a:rPr lang="vi-VN" altLang="en-US" dirty="0"/>
              <a:t>số trang tin tức trên mạng)</a:t>
            </a:r>
          </a:p>
          <a:p>
            <a:pPr lvl="1" algn="just"/>
            <a:r>
              <a:rPr lang="vi-VN" altLang="en-US" dirty="0"/>
              <a:t>a) Hiển thị danh mục các loại tin tức (category list)</a:t>
            </a:r>
          </a:p>
          <a:p>
            <a:pPr lvl="1" algn="just"/>
            <a:r>
              <a:rPr lang="vi-VN" altLang="en-US" dirty="0"/>
              <a:t>b) Hiển thị danh sách tin tức trong từng mục (news list)</a:t>
            </a:r>
          </a:p>
          <a:p>
            <a:pPr lvl="1" algn="just"/>
            <a:r>
              <a:rPr lang="vi-VN" altLang="en-US" dirty="0"/>
              <a:t>c) Hiển thị nội dung chi tiết của một tin tức (news detail).</a:t>
            </a:r>
            <a:endParaRPr lang="en-US" altLang="en-US" dirty="0"/>
          </a:p>
          <a:p>
            <a:pPr lvl="1" algn="just"/>
            <a:r>
              <a:rPr lang="vi-VN" altLang="en-US" dirty="0"/>
              <a:t>d) Ngoài thông tin lấy từ CSDL, hệ thống còn tổng hợp tin tức từ các trang tin tức nổi tiếng như:</a:t>
            </a:r>
            <a:r>
              <a:rPr lang="en-US" altLang="en-US" dirty="0"/>
              <a:t> </a:t>
            </a:r>
            <a:r>
              <a:rPr lang="vi-VN" altLang="en-US" dirty="0"/>
              <a:t>thanhnien.com.vn, vnexpress.net, tuoitre.vn, ... Các trang tin tức này đã cung cấp sẵn các lớp</a:t>
            </a:r>
            <a:r>
              <a:rPr lang="en-US" altLang="en-US" dirty="0"/>
              <a:t> </a:t>
            </a:r>
            <a:r>
              <a:rPr lang="vi-VN" altLang="en-US" dirty="0"/>
              <a:t>thư viện (class library) để thực hiện lấy dữ liệu (lớp bên dưới). Hãy thiết kế và xây dựng các</a:t>
            </a:r>
            <a:r>
              <a:rPr lang="en-US" altLang="en-US" dirty="0"/>
              <a:t> </a:t>
            </a:r>
            <a:r>
              <a:rPr lang="vi-VN" altLang="en-US" dirty="0"/>
              <a:t>lớp và phương thức cần thiết cho bài toán này sử dụng “mẫu thiết kế” thích hợp.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3581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AF40-88F2-4C4B-A457-E1707AE1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Mẫu</a:t>
            </a:r>
            <a:r>
              <a:rPr lang="en-US" dirty="0"/>
              <a:t> Adapter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BF79E-93C7-4867-9110-590562585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213772C-E159-428F-90D2-9F25103FF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256" y="2381435"/>
            <a:ext cx="910748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0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FA39E-7B41-45A4-AA38-1C252053A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01 – </a:t>
            </a:r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</a:t>
            </a:r>
            <a:r>
              <a:rPr lang="en-US" altLang="en-US" dirty="0" err="1"/>
              <a:t>lại</a:t>
            </a:r>
            <a:r>
              <a:rPr lang="en-US" altLang="en-US" dirty="0"/>
              <a:t> </a:t>
            </a:r>
            <a:r>
              <a:rPr lang="en-US" altLang="en-US" dirty="0" err="1"/>
              <a:t>bài</a:t>
            </a:r>
            <a:r>
              <a:rPr lang="en-US" altLang="en-US" dirty="0"/>
              <a:t> “simple FTP” </a:t>
            </a:r>
            <a:r>
              <a:rPr lang="en-US" altLang="en-US" dirty="0" err="1"/>
              <a:t>trong</a:t>
            </a:r>
            <a:r>
              <a:rPr lang="en-US" altLang="en-US" dirty="0"/>
              <a:t> slide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hiểu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tạo</a:t>
            </a:r>
            <a:r>
              <a:rPr lang="en-US" altLang="en-US" dirty="0"/>
              <a:t> Adapter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AD86-3DC5-4FC0-AD58-763C995CE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78BE71-0494-4642-A5CC-0EC684050794}"/>
              </a:ext>
            </a:extLst>
          </p:cNvPr>
          <p:cNvSpPr txBox="1">
            <a:spLocks/>
          </p:cNvSpPr>
          <p:nvPr/>
        </p:nvSpPr>
        <p:spPr>
          <a:xfrm>
            <a:off x="101600" y="1606119"/>
            <a:ext cx="5994400" cy="510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public interface </a:t>
            </a:r>
            <a:r>
              <a:rPr lang="en-US" sz="1800" b="1" dirty="0" err="1">
                <a:solidFill>
                  <a:srgbClr val="FF0000"/>
                </a:solidFill>
                <a:latin typeface="Courier New" charset="0"/>
                <a:cs typeface="Courier New" charset="0"/>
              </a:rPr>
              <a:t>ISimpleFTP</a:t>
            </a:r>
            <a:endParaRPr lang="en-US" sz="1800" b="1" dirty="0">
              <a:solidFill>
                <a:srgbClr val="FF0000"/>
              </a:solidFill>
              <a:latin typeface="Courier New" charset="0"/>
              <a:cs typeface="Courier New" charset="0"/>
            </a:endParaRP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{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   </a:t>
            </a:r>
            <a:r>
              <a:rPr lang="en-US" sz="1800" b="1" i="1" dirty="0">
                <a:solidFill>
                  <a:schemeClr val="bg1">
                    <a:lumMod val="50000"/>
                  </a:schemeClr>
                </a:solidFill>
                <a:latin typeface="Courier New" charset="0"/>
                <a:cs typeface="Courier New" charset="0"/>
              </a:rPr>
              <a:t>//send a message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   void </a:t>
            </a:r>
            <a:r>
              <a:rPr lang="en-US" sz="1800" b="1" dirty="0" err="1">
                <a:latin typeface="Courier New" charset="0"/>
                <a:cs typeface="Courier New" charset="0"/>
              </a:rPr>
              <a:t>sendAMsg</a:t>
            </a:r>
            <a:r>
              <a:rPr lang="en-US" sz="1800" b="1" dirty="0">
                <a:latin typeface="Courier New" charset="0"/>
                <a:cs typeface="Courier New" charset="0"/>
              </a:rPr>
              <a:t>(string msg);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   </a:t>
            </a:r>
            <a:r>
              <a:rPr lang="en-US" sz="1800" b="1" i="1" dirty="0">
                <a:solidFill>
                  <a:srgbClr val="7F7F7F"/>
                </a:solidFill>
                <a:latin typeface="Courier New" charset="0"/>
                <a:cs typeface="Courier New" charset="0"/>
              </a:rPr>
              <a:t>//make a connection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   void </a:t>
            </a:r>
            <a:r>
              <a:rPr lang="en-US" sz="1800" b="1" dirty="0" err="1">
                <a:latin typeface="Courier New" charset="0"/>
                <a:cs typeface="Courier New" charset="0"/>
              </a:rPr>
              <a:t>connectServer</a:t>
            </a:r>
            <a:r>
              <a:rPr lang="en-US" sz="1800" b="1" dirty="0">
                <a:latin typeface="Courier New" charset="0"/>
                <a:cs typeface="Courier New" charset="0"/>
              </a:rPr>
              <a:t>();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}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class </a:t>
            </a:r>
            <a:r>
              <a:rPr lang="en-US" sz="1800" b="1" dirty="0" err="1">
                <a:solidFill>
                  <a:srgbClr val="FF0000"/>
                </a:solidFill>
                <a:latin typeface="Courier New" charset="0"/>
                <a:cs typeface="Courier New" charset="0"/>
              </a:rPr>
              <a:t>MyFTP</a:t>
            </a:r>
            <a:r>
              <a:rPr lang="en-US" sz="1800" b="1" dirty="0">
                <a:solidFill>
                  <a:srgbClr val="FF0000"/>
                </a:solidFill>
                <a:latin typeface="Courier New" charset="0"/>
                <a:cs typeface="Courier New" charset="0"/>
              </a:rPr>
              <a:t> </a:t>
            </a:r>
            <a:r>
              <a:rPr lang="en-US" sz="1800" b="1" dirty="0">
                <a:latin typeface="Courier New" charset="0"/>
                <a:cs typeface="Courier New" charset="0"/>
              </a:rPr>
              <a:t>implements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			   </a:t>
            </a:r>
            <a:r>
              <a:rPr lang="en-US" sz="1800" b="1" dirty="0" err="1">
                <a:latin typeface="Courier New" charset="0"/>
                <a:cs typeface="Courier New" charset="0"/>
              </a:rPr>
              <a:t>ISimpleFTP</a:t>
            </a:r>
            <a:r>
              <a:rPr lang="en-US" sz="1800" b="1" dirty="0">
                <a:latin typeface="Courier New" charset="0"/>
                <a:cs typeface="Courier New" charset="0"/>
              </a:rPr>
              <a:t>{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  public void </a:t>
            </a:r>
            <a:r>
              <a:rPr lang="en-US" sz="1800" b="1" dirty="0" err="1">
                <a:latin typeface="Courier New" charset="0"/>
                <a:cs typeface="Courier New" charset="0"/>
              </a:rPr>
              <a:t>sendAMsg</a:t>
            </a:r>
            <a:r>
              <a:rPr lang="en-US" sz="1800" b="1" dirty="0">
                <a:latin typeface="Courier New" charset="0"/>
                <a:cs typeface="Courier New" charset="0"/>
              </a:rPr>
              <a:t>(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			    string msg){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		//send a message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  }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  public void </a:t>
            </a:r>
            <a:r>
              <a:rPr lang="en-US" sz="1800" b="1" dirty="0" err="1">
                <a:latin typeface="Courier New" charset="0"/>
                <a:cs typeface="Courier New" charset="0"/>
              </a:rPr>
              <a:t>connectServer</a:t>
            </a:r>
            <a:r>
              <a:rPr lang="en-US" sz="1800" b="1" dirty="0">
                <a:latin typeface="Courier New" charset="0"/>
                <a:cs typeface="Courier New" charset="0"/>
              </a:rPr>
              <a:t>() {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		//make a connection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  }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latin typeface="Courier New" charset="0"/>
                <a:cs typeface="Courier New" charset="0"/>
              </a:rPr>
              <a:t>}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795321-3C75-4586-B716-F54B834E2D21}"/>
              </a:ext>
            </a:extLst>
          </p:cNvPr>
          <p:cNvSpPr txBox="1">
            <a:spLocks/>
          </p:cNvSpPr>
          <p:nvPr/>
        </p:nvSpPr>
        <p:spPr>
          <a:xfrm>
            <a:off x="6299199" y="1606119"/>
            <a:ext cx="6102905" cy="510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class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MyApp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ISimpleFTP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ftp;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public void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setFTP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 ...)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public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doSomething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ftp.connectServer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ftp.sendAMsg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“</a:t>
            </a:r>
            <a:r>
              <a:rPr lang="en-US" altLang="ja-JP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”</a:t>
            </a:r>
            <a:r>
              <a:rPr lang="en-US" altLang="ja-JP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class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TestMyApp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static void main(...){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MyApp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app = new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MyApp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ISimpleFTP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ftp =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			    new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MyFTP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app.setFTP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(ftp);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app.doSomething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1800" dirty="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3897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FA39E-7B41-45A4-AA38-1C252053A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01 – </a:t>
            </a:r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</a:t>
            </a:r>
            <a:r>
              <a:rPr lang="en-US" altLang="en-US" dirty="0" err="1"/>
              <a:t>lại</a:t>
            </a:r>
            <a:r>
              <a:rPr lang="en-US" altLang="en-US" dirty="0"/>
              <a:t> </a:t>
            </a:r>
            <a:r>
              <a:rPr lang="en-US" altLang="en-US" dirty="0" err="1"/>
              <a:t>bài</a:t>
            </a:r>
            <a:r>
              <a:rPr lang="en-US" altLang="en-US" dirty="0"/>
              <a:t> “simple FTP” </a:t>
            </a:r>
            <a:r>
              <a:rPr lang="en-US" altLang="en-US" dirty="0" err="1"/>
              <a:t>trong</a:t>
            </a:r>
            <a:r>
              <a:rPr lang="en-US" altLang="en-US" dirty="0"/>
              <a:t> slide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hiểu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tạo</a:t>
            </a:r>
            <a:r>
              <a:rPr lang="en-US" altLang="en-US" dirty="0"/>
              <a:t> Adapter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AD86-3DC5-4FC0-AD58-763C995CE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D41F18-3555-4C44-8248-3C362678BB1E}"/>
              </a:ext>
            </a:extLst>
          </p:cNvPr>
          <p:cNvSpPr txBox="1">
            <a:spLocks/>
          </p:cNvSpPr>
          <p:nvPr/>
        </p:nvSpPr>
        <p:spPr>
          <a:xfrm>
            <a:off x="203200" y="1690688"/>
            <a:ext cx="5994400" cy="510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public interface </a:t>
            </a:r>
            <a:r>
              <a:rPr lang="en-US" sz="1800" b="1">
                <a:solidFill>
                  <a:srgbClr val="FF0000"/>
                </a:solidFill>
                <a:latin typeface="Courier New" charset="0"/>
                <a:cs typeface="Courier New" charset="0"/>
              </a:rPr>
              <a:t>IComplexFTP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{</a:t>
            </a:r>
            <a:endParaRPr lang="en-US" sz="1800" b="1" i="1">
              <a:solidFill>
                <a:schemeClr val="bg1">
                  <a:lumMod val="50000"/>
                </a:schemeClr>
              </a:solidFill>
              <a:latin typeface="Courier New" charset="0"/>
              <a:cs typeface="Courier New" charset="0"/>
            </a:endParaRP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void sendMsgs(string[] msgs);</a:t>
            </a:r>
            <a:endParaRPr lang="en-US" sz="1800" b="1" i="1">
              <a:solidFill>
                <a:srgbClr val="7F7F7F"/>
              </a:solidFill>
              <a:latin typeface="Courier New" charset="0"/>
              <a:cs typeface="Courier New" charset="0"/>
            </a:endParaRP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void connect ();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string[] getDirs();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}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class </a:t>
            </a:r>
            <a:r>
              <a:rPr lang="en-US" sz="1800" b="1">
                <a:solidFill>
                  <a:srgbClr val="FF0000"/>
                </a:solidFill>
                <a:latin typeface="Courier New" charset="0"/>
                <a:cs typeface="Courier New" charset="0"/>
              </a:rPr>
              <a:t>ComplexFTP </a:t>
            </a:r>
            <a:r>
              <a:rPr lang="en-US" sz="1800" b="1">
                <a:latin typeface="Courier New" charset="0"/>
                <a:cs typeface="Courier New" charset="0"/>
              </a:rPr>
              <a:t>implements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			   IComplexFTP{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public void sendMsgs(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			    string[] msgs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{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	   </a:t>
            </a:r>
            <a:r>
              <a:rPr lang="en-US" sz="1800" b="1" i="1">
                <a:solidFill>
                  <a:schemeClr val="bg1">
                    <a:lumMod val="50000"/>
                  </a:schemeClr>
                </a:solidFill>
                <a:latin typeface="Courier New" charset="0"/>
                <a:cs typeface="Courier New" charset="0"/>
              </a:rPr>
              <a:t>//send a message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}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public void connect() {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	   </a:t>
            </a:r>
            <a:r>
              <a:rPr lang="en-US" sz="1800" b="1" i="1">
                <a:solidFill>
                  <a:srgbClr val="7F7F7F"/>
                </a:solidFill>
                <a:latin typeface="Courier New" charset="0"/>
                <a:cs typeface="Courier New" charset="0"/>
              </a:rPr>
              <a:t>//make a connection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}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public string[] getDirs() {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   </a:t>
            </a:r>
            <a:r>
              <a:rPr lang="en-US" sz="1800" b="1" i="1">
                <a:solidFill>
                  <a:srgbClr val="7F7F7F"/>
                </a:solidFill>
                <a:latin typeface="Courier New" charset="0"/>
                <a:cs typeface="Courier New" charset="0"/>
              </a:rPr>
              <a:t>//get directories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  }</a:t>
            </a:r>
          </a:p>
          <a:p>
            <a:pPr>
              <a:lnSpc>
                <a:spcPct val="70000"/>
              </a:lnSpc>
              <a:buFont typeface="Wingdings" charset="0"/>
              <a:buNone/>
              <a:defRPr/>
            </a:pPr>
            <a:r>
              <a:rPr lang="en-US" sz="1800" b="1">
                <a:latin typeface="Courier New" charset="0"/>
                <a:cs typeface="Courier New" charset="0"/>
              </a:rPr>
              <a:t>}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17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5C7EC58-823A-4F25-9833-AB081D14D9AC}"/>
              </a:ext>
            </a:extLst>
          </p:cNvPr>
          <p:cNvSpPr txBox="1">
            <a:spLocks/>
          </p:cNvSpPr>
          <p:nvPr/>
        </p:nvSpPr>
        <p:spPr>
          <a:xfrm>
            <a:off x="6400800" y="1690688"/>
            <a:ext cx="5791200" cy="510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class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MyApp </a:t>
            </a: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ISimpleFTP ftp;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public void setFTP( ...)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public doSomething()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 ftp.connectServer();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 ftp.sendAMsg(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“</a:t>
            </a:r>
            <a:r>
              <a:rPr lang="en-US" altLang="ja-JP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”</a:t>
            </a:r>
            <a:r>
              <a:rPr lang="en-US" altLang="ja-JP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class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TestMyApp</a:t>
            </a: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()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static void main(...){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MyApp app = new MyApp();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ISimpleFTP ftp =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			new AdapterFTP();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app.setFTP(ftp);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   app.doSomething();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sz="1800" dirty="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550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2908-40B0-46F9-AE19-E8598FFD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01 – </a:t>
            </a:r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</a:t>
            </a:r>
            <a:r>
              <a:rPr lang="en-US" altLang="en-US" dirty="0" err="1"/>
              <a:t>lại</a:t>
            </a:r>
            <a:r>
              <a:rPr lang="en-US" altLang="en-US" dirty="0"/>
              <a:t> </a:t>
            </a:r>
            <a:r>
              <a:rPr lang="en-US" altLang="en-US" dirty="0" err="1"/>
              <a:t>bài</a:t>
            </a:r>
            <a:r>
              <a:rPr lang="en-US" altLang="en-US" dirty="0"/>
              <a:t> “simple FTP” </a:t>
            </a:r>
            <a:r>
              <a:rPr lang="en-US" altLang="en-US" dirty="0" err="1"/>
              <a:t>trong</a:t>
            </a:r>
            <a:r>
              <a:rPr lang="en-US" altLang="en-US" dirty="0"/>
              <a:t> slide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hiểu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tạo</a:t>
            </a:r>
            <a:r>
              <a:rPr lang="en-US" altLang="en-US" dirty="0"/>
              <a:t> Adapter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0EE6-9F9B-442A-99AC-BA26C4AA2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21D3AAC5-37E9-4FAA-BC56-EA740760B8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4823015"/>
              </p:ext>
            </p:extLst>
          </p:nvPr>
        </p:nvGraphicFramePr>
        <p:xfrm>
          <a:off x="1115134" y="2117726"/>
          <a:ext cx="2336800" cy="11128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ISimpleFTP</a:t>
                      </a:r>
                      <a:endParaRPr lang="en-US" sz="1800" dirty="0"/>
                    </a:p>
                  </a:txBody>
                  <a:tcPr marT="45734" marB="45734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sendAMsg</a:t>
                      </a:r>
                      <a:r>
                        <a:rPr lang="en-US" sz="1800" dirty="0"/>
                        <a:t>(String)</a:t>
                      </a:r>
                    </a:p>
                  </a:txBody>
                  <a:tcPr marT="45734" marB="45734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connectServer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8">
            <a:extLst>
              <a:ext uri="{FF2B5EF4-FFF2-40B4-BE49-F238E27FC236}">
                <a16:creationId xmlns:a16="http://schemas.microsoft.com/office/drawing/2014/main" id="{8909FF54-7807-4EE8-A2F5-EF5B494B80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7867199"/>
              </p:ext>
            </p:extLst>
          </p:nvPr>
        </p:nvGraphicFramePr>
        <p:xfrm>
          <a:off x="4218697" y="2117726"/>
          <a:ext cx="2336800" cy="11128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MyFTP</a:t>
                      </a:r>
                      <a:endParaRPr lang="en-US" sz="1800" dirty="0"/>
                    </a:p>
                  </a:txBody>
                  <a:tcPr marT="45734" marB="45734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sendAMsg</a:t>
                      </a:r>
                      <a:r>
                        <a:rPr lang="en-US" sz="1800" dirty="0"/>
                        <a:t>(String)</a:t>
                      </a:r>
                    </a:p>
                  </a:txBody>
                  <a:tcPr marT="45734" marB="45734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connectServer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8">
            <a:extLst>
              <a:ext uri="{FF2B5EF4-FFF2-40B4-BE49-F238E27FC236}">
                <a16:creationId xmlns:a16="http://schemas.microsoft.com/office/drawing/2014/main" id="{30730D67-C0D3-4521-ACD4-D830A910BB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023521"/>
              </p:ext>
            </p:extLst>
          </p:nvPr>
        </p:nvGraphicFramePr>
        <p:xfrm>
          <a:off x="9111372" y="906464"/>
          <a:ext cx="23368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SimpleFTPAdapter</a:t>
                      </a:r>
                      <a:endParaRPr lang="en-US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sendAMsg</a:t>
                      </a:r>
                      <a:r>
                        <a:rPr lang="en-US" sz="1800" dirty="0"/>
                        <a:t>(String)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connectServer</a:t>
                      </a:r>
                      <a:r>
                        <a:rPr lang="en-US" sz="1800" dirty="0"/>
                        <a:t>()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sendMsgs</a:t>
                      </a:r>
                      <a:r>
                        <a:rPr lang="en-US" sz="1800" dirty="0"/>
                        <a:t>(String[])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connect()</a:t>
                      </a:r>
                    </a:p>
                  </a:txBody>
                  <a:tcP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F602D2BA-65C4-480E-9AF5-CEEF23E8CE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0291000"/>
              </p:ext>
            </p:extLst>
          </p:nvPr>
        </p:nvGraphicFramePr>
        <p:xfrm>
          <a:off x="9090734" y="3230564"/>
          <a:ext cx="2336800" cy="1482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IComplexFTP</a:t>
                      </a:r>
                      <a:endParaRPr lang="en-US" sz="1800" dirty="0"/>
                    </a:p>
                  </a:txBody>
                  <a:tcPr marT="45701" marB="4570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sendMsgs</a:t>
                      </a:r>
                      <a:r>
                        <a:rPr lang="en-US" sz="1800" dirty="0"/>
                        <a:t>(String[])</a:t>
                      </a:r>
                    </a:p>
                  </a:txBody>
                  <a:tcPr marT="45701" marB="45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+ connect()</a:t>
                      </a:r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getDirs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8">
            <a:extLst>
              <a:ext uri="{FF2B5EF4-FFF2-40B4-BE49-F238E27FC236}">
                <a16:creationId xmlns:a16="http://schemas.microsoft.com/office/drawing/2014/main" id="{83D0318B-30BD-448D-B258-3273E8EF62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506620"/>
              </p:ext>
            </p:extLst>
          </p:nvPr>
        </p:nvGraphicFramePr>
        <p:xfrm>
          <a:off x="9090734" y="5375276"/>
          <a:ext cx="2336800" cy="1482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ComplexFTP</a:t>
                      </a:r>
                      <a:endParaRPr lang="en-US" sz="1800" dirty="0"/>
                    </a:p>
                  </a:txBody>
                  <a:tcPr marT="45701" marB="4570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sendMsgs</a:t>
                      </a:r>
                      <a:r>
                        <a:rPr lang="en-US" sz="1800" dirty="0"/>
                        <a:t>(String[])</a:t>
                      </a:r>
                    </a:p>
                  </a:txBody>
                  <a:tcPr marT="45701" marB="45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+ connect()</a:t>
                      </a:r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getDirs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01" marB="457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74F4ECE-0D8D-4111-A65E-84891A937D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4758800"/>
              </p:ext>
            </p:extLst>
          </p:nvPr>
        </p:nvGraphicFramePr>
        <p:xfrm>
          <a:off x="1115134" y="4344989"/>
          <a:ext cx="2336800" cy="1484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MyApp</a:t>
                      </a:r>
                      <a:endParaRPr lang="en-US" sz="1800" dirty="0"/>
                    </a:p>
                  </a:txBody>
                  <a:tcPr marT="45750" marB="4575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- ftp: </a:t>
                      </a:r>
                      <a:r>
                        <a:rPr lang="en-US" sz="1800" dirty="0" err="1"/>
                        <a:t>ISimpleFTP</a:t>
                      </a:r>
                      <a:endParaRPr lang="en-US" sz="1800" dirty="0"/>
                    </a:p>
                  </a:txBody>
                  <a:tcPr marT="45750" marB="4575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sendFTP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ISimpleFTP</a:t>
                      </a:r>
                      <a:r>
                        <a:rPr lang="en-US" sz="1800" dirty="0"/>
                        <a:t>)</a:t>
                      </a:r>
                    </a:p>
                  </a:txBody>
                  <a:tcPr marT="45750" marB="4575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doSomething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50" marB="45750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6C7AA898-EDE3-4CF1-993B-D024B24927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464665"/>
              </p:ext>
            </p:extLst>
          </p:nvPr>
        </p:nvGraphicFramePr>
        <p:xfrm>
          <a:off x="4218697" y="4262439"/>
          <a:ext cx="2738437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SimpleFTPAdapter</a:t>
                      </a:r>
                      <a:endParaRPr lang="en-US" sz="1800" dirty="0"/>
                    </a:p>
                  </a:txBody>
                  <a:tcPr marL="91435" marR="9143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- </a:t>
                      </a:r>
                      <a:r>
                        <a:rPr lang="en-US" sz="1800" dirty="0" err="1"/>
                        <a:t>complexFTP</a:t>
                      </a:r>
                      <a:r>
                        <a:rPr lang="en-US" sz="1800" dirty="0"/>
                        <a:t>: </a:t>
                      </a:r>
                      <a:r>
                        <a:rPr lang="en-US" sz="1800" dirty="0" err="1"/>
                        <a:t>IComplexFTP</a:t>
                      </a:r>
                      <a:endParaRPr lang="en-US" sz="1800" dirty="0"/>
                    </a:p>
                  </a:txBody>
                  <a:tcPr marL="91435" marR="9143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sendMsgs</a:t>
                      </a:r>
                      <a:r>
                        <a:rPr lang="en-US" sz="1800" dirty="0"/>
                        <a:t>(String[])</a:t>
                      </a:r>
                    </a:p>
                  </a:txBody>
                  <a:tcPr marL="91435" marR="9143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connect()</a:t>
                      </a:r>
                    </a:p>
                  </a:txBody>
                  <a:tcPr marL="91435" marR="91435"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getDirs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L="91435" marR="91435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AEEDFF-3162-4C17-ACAB-46B2C96E95A3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0259134" y="4713288"/>
            <a:ext cx="0" cy="661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A6E3AF-0BB1-4849-8849-19086A52AAD0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10259134" y="2760664"/>
            <a:ext cx="20638" cy="469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FC692E-CBE9-46AC-A575-0E7C680F057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451934" y="2673351"/>
            <a:ext cx="7667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FDA6CC-9FC0-43A5-9393-3322F43AC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034" y="2482851"/>
            <a:ext cx="2128838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675DEA-52E0-4A4B-9624-D04C6C8FD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0734" y="3643314"/>
            <a:ext cx="2128838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5CD503-0336-4BD6-B0F9-E78288E94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2809" y="4251326"/>
            <a:ext cx="2128838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17" name="Elbow Connector 5">
            <a:extLst>
              <a:ext uri="{FF2B5EF4-FFF2-40B4-BE49-F238E27FC236}">
                <a16:creationId xmlns:a16="http://schemas.microsoft.com/office/drawing/2014/main" id="{FF653EDF-EE38-4C5B-995E-D6510908C608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rot="16200000" flipV="1">
            <a:off x="3420184" y="2093914"/>
            <a:ext cx="1031875" cy="330517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542B3A-AF3D-4C92-BFB5-26418D224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922" y="5876926"/>
            <a:ext cx="35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369131-6352-48E2-BAC1-CEE372D94B24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11427534" y="2117726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FAF068-624B-4A9A-8695-FA8D15FE5EB8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11598984" y="4648201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886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F1DB-7207-4C71-91A4-2D3F201E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0305"/>
            <a:ext cx="10515600" cy="1325563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02</a:t>
            </a:r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BEF394F3-AB24-43AD-9295-A6F6CB039E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6887153"/>
              </p:ext>
            </p:extLst>
          </p:nvPr>
        </p:nvGraphicFramePr>
        <p:xfrm>
          <a:off x="5146675" y="22225"/>
          <a:ext cx="4506910" cy="1753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INewsDAO</a:t>
                      </a:r>
                      <a:endParaRPr lang="en-US" sz="1800" dirty="0"/>
                    </a:p>
                  </a:txBody>
                  <a:tcPr marT="45750" marB="4575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GetCategories</a:t>
                      </a:r>
                      <a:r>
                        <a:rPr lang="en-US" sz="1800" dirty="0"/>
                        <a:t>(): </a:t>
                      </a:r>
                      <a:r>
                        <a:rPr lang="en-US" sz="1800" dirty="0" err="1"/>
                        <a:t>ArrayList</a:t>
                      </a:r>
                      <a:r>
                        <a:rPr lang="en-US" sz="1800" dirty="0"/>
                        <a:t> &lt;</a:t>
                      </a:r>
                      <a:r>
                        <a:rPr lang="en-US" sz="1800" dirty="0" err="1"/>
                        <a:t>NewsCategory</a:t>
                      </a:r>
                      <a:r>
                        <a:rPr lang="en-US" sz="1800" dirty="0"/>
                        <a:t>&gt;</a:t>
                      </a:r>
                    </a:p>
                  </a:txBody>
                  <a:tcPr marT="45750" marB="4575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dirty="0" err="1"/>
                        <a:t>getNewsByCategory</a:t>
                      </a:r>
                      <a:r>
                        <a:rPr lang="en-US" dirty="0"/>
                        <a:t>(int </a:t>
                      </a:r>
                      <a:r>
                        <a:rPr lang="en-US" dirty="0" err="1"/>
                        <a:t>categoryID</a:t>
                      </a:r>
                      <a:r>
                        <a:rPr lang="en-US" dirty="0"/>
                        <a:t>): </a:t>
                      </a:r>
                      <a:r>
                        <a:rPr lang="en-US" dirty="0" err="1"/>
                        <a:t>ArrayList</a:t>
                      </a:r>
                      <a:r>
                        <a:rPr lang="en-US" dirty="0"/>
                        <a:t> &lt;</a:t>
                      </a:r>
                      <a:r>
                        <a:rPr lang="en-US" dirty="0" err="1"/>
                        <a:t>NewsLocal</a:t>
                      </a:r>
                      <a:r>
                        <a:rPr lang="en-US" dirty="0"/>
                        <a:t>&gt;</a:t>
                      </a:r>
                      <a:endParaRPr lang="en-US" sz="1800" dirty="0"/>
                    </a:p>
                  </a:txBody>
                  <a:tcPr marT="45750" marB="457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GetNewsDetail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50" marB="457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ontent Placeholder 8">
            <a:extLst>
              <a:ext uri="{FF2B5EF4-FFF2-40B4-BE49-F238E27FC236}">
                <a16:creationId xmlns:a16="http://schemas.microsoft.com/office/drawing/2014/main" id="{B7D39FBA-945A-42CA-BE01-80CA8CB83A9E}"/>
              </a:ext>
            </a:extLst>
          </p:cNvPr>
          <p:cNvGraphicFramePr>
            <a:graphicFrameLocks/>
          </p:cNvGraphicFramePr>
          <p:nvPr/>
        </p:nvGraphicFramePr>
        <p:xfrm>
          <a:off x="3571875" y="1481138"/>
          <a:ext cx="3068638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ThanhNienAdapter</a:t>
                      </a:r>
                      <a:endParaRPr lang="en-US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- </a:t>
                      </a:r>
                      <a:r>
                        <a:rPr lang="en-US" sz="1800" dirty="0" err="1"/>
                        <a:t>tnService</a:t>
                      </a:r>
                      <a:r>
                        <a:rPr lang="en-US" sz="1800" dirty="0"/>
                        <a:t>: </a:t>
                      </a:r>
                      <a:r>
                        <a:rPr lang="en-US" sz="1800" dirty="0" err="1"/>
                        <a:t>ThanhNienService</a:t>
                      </a:r>
                      <a:endParaRPr lang="en-US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GetCategories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34" marB="45734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GetNewsList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34" marB="45734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GetNewsDetail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34" marB="4573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8">
            <a:extLst>
              <a:ext uri="{FF2B5EF4-FFF2-40B4-BE49-F238E27FC236}">
                <a16:creationId xmlns:a16="http://schemas.microsoft.com/office/drawing/2014/main" id="{6B106429-C2A6-414A-ABA0-46DD34CA71CF}"/>
              </a:ext>
            </a:extLst>
          </p:cNvPr>
          <p:cNvGraphicFramePr>
            <a:graphicFrameLocks/>
          </p:cNvGraphicFramePr>
          <p:nvPr/>
        </p:nvGraphicFramePr>
        <p:xfrm>
          <a:off x="3759200" y="3551238"/>
          <a:ext cx="2030413" cy="1482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0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ThanhNienService</a:t>
                      </a:r>
                      <a:endParaRPr lang="en-US" sz="1800" dirty="0"/>
                    </a:p>
                  </a:txBody>
                  <a:tcPr marL="91476" marR="91476" marT="45701" marB="4570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GetCategories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L="91476" marR="91476" marT="45734" marB="45734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GetNewsList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L="91476" marR="91476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GetNewsDetail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L="91476" marR="91476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51E3163A-20E1-4194-9F2F-D4B37C4877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0852616"/>
              </p:ext>
            </p:extLst>
          </p:nvPr>
        </p:nvGraphicFramePr>
        <p:xfrm>
          <a:off x="-1588" y="1206500"/>
          <a:ext cx="2946401" cy="1855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6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1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NewsDAO</a:t>
                      </a:r>
                      <a:endParaRPr lang="en-US" sz="1800" dirty="0"/>
                    </a:p>
                  </a:txBody>
                  <a:tcPr marT="45760" marB="457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- </a:t>
                      </a:r>
                      <a:r>
                        <a:rPr lang="en-US" sz="1800" dirty="0" err="1"/>
                        <a:t>newsService</a:t>
                      </a:r>
                      <a:r>
                        <a:rPr lang="en-US" sz="1800" dirty="0"/>
                        <a:t>: </a:t>
                      </a:r>
                      <a:r>
                        <a:rPr lang="en-US" sz="1800" dirty="0" err="1"/>
                        <a:t>INewsDAO</a:t>
                      </a:r>
                      <a:endParaRPr lang="en-US" sz="1800" dirty="0"/>
                    </a:p>
                  </a:txBody>
                  <a:tcPr marT="45760" marB="4576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58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DisplayCategories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60" marB="4576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158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DisplayNewsList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60" marB="45760"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158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DisplaNewsDetail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60" marB="45760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36711E-D60A-4525-87D8-EDF3B9583B78}"/>
              </a:ext>
            </a:extLst>
          </p:cNvPr>
          <p:cNvCxnSpPr>
            <a:cxnSpLocks/>
            <a:stCxn id="13" idx="0"/>
            <a:endCxn id="6" idx="2"/>
          </p:cNvCxnSpPr>
          <p:nvPr/>
        </p:nvCxnSpPr>
        <p:spPr>
          <a:xfrm flipV="1">
            <a:off x="4774406" y="5033962"/>
            <a:ext cx="0" cy="3815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6BEA92-7C92-4D71-994D-238FAE360082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4773613" y="3306764"/>
            <a:ext cx="793" cy="2444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5E13A7-A2D0-4D52-82DB-F4F54EEBD99E}"/>
              </a:ext>
            </a:extLst>
          </p:cNvPr>
          <p:cNvGraphicFramePr>
            <a:graphicFrameLocks noGrp="1"/>
          </p:cNvGraphicFramePr>
          <p:nvPr/>
        </p:nvGraphicFramePr>
        <p:xfrm>
          <a:off x="206375" y="3138488"/>
          <a:ext cx="1163638" cy="742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Program</a:t>
                      </a:r>
                    </a:p>
                  </a:txBody>
                  <a:tcPr marT="45798" marB="4579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endParaRPr lang="en-VN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98" marB="4579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0DBFE97-2E1B-4B10-BD6B-53091C644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021707"/>
              </p:ext>
            </p:extLst>
          </p:nvPr>
        </p:nvGraphicFramePr>
        <p:xfrm>
          <a:off x="-1589" y="4297363"/>
          <a:ext cx="2743199" cy="1752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742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News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Local</a:t>
                      </a:r>
                      <a:endParaRPr lang="en-VN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4" marR="91404" marT="45708" marB="4570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news</a:t>
                      </a: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Id: int</a:t>
                      </a:r>
                    </a:p>
                  </a:txBody>
                  <a:tcPr marL="91404" marR="91404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news</a:t>
                      </a: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Title: String</a:t>
                      </a:r>
                    </a:p>
                  </a:txBody>
                  <a:tcPr marL="91404" marR="91404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5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news</a:t>
                      </a: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Content: String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ategoryId: int</a:t>
                      </a:r>
                    </a:p>
                  </a:txBody>
                  <a:tcPr marL="91404" marR="91404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7F88E69-ED79-4973-8527-094A38C8A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545124"/>
              </p:ext>
            </p:extLst>
          </p:nvPr>
        </p:nvGraphicFramePr>
        <p:xfrm>
          <a:off x="1584324" y="3138488"/>
          <a:ext cx="1986757" cy="138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New</a:t>
                      </a: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marL="91515" marR="91515" marT="45733" marB="4573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ategoryId: int</a:t>
                      </a:r>
                    </a:p>
                  </a:txBody>
                  <a:tcPr marL="91515" marR="91515" marT="45733" marB="45733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ategory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Name</a:t>
                      </a: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: String</a:t>
                      </a:r>
                    </a:p>
                  </a:txBody>
                  <a:tcPr marL="91515" marR="91515" marT="45733" marB="45733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A3120A0-2ECC-4C33-8A9E-E8CDBC507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209780"/>
              </p:ext>
            </p:extLst>
          </p:nvPr>
        </p:nvGraphicFramePr>
        <p:xfrm>
          <a:off x="4065588" y="5415548"/>
          <a:ext cx="1417637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TNCat</a:t>
                      </a:r>
                    </a:p>
                  </a:txBody>
                  <a:tcPr marT="45733" marB="4573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Id: int</a:t>
                      </a:r>
                    </a:p>
                  </a:txBody>
                  <a:tcPr marT="45733" marB="45733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Title: String</a:t>
                      </a:r>
                    </a:p>
                  </a:txBody>
                  <a:tcPr marT="45733" marB="45733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8316A3-3501-4714-91EC-5F46ABC7FF6F}"/>
              </a:ext>
            </a:extLst>
          </p:cNvPr>
          <p:cNvGraphicFramePr>
            <a:graphicFrameLocks noGrp="1"/>
          </p:cNvGraphicFramePr>
          <p:nvPr/>
        </p:nvGraphicFramePr>
        <p:xfrm>
          <a:off x="5788025" y="5232400"/>
          <a:ext cx="1831975" cy="1477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742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TNNews</a:t>
                      </a:r>
                    </a:p>
                  </a:txBody>
                  <a:tcPr marL="91420" marR="91420" marT="45708" marB="4570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Id: int</a:t>
                      </a:r>
                    </a:p>
                  </a:txBody>
                  <a:tcPr marL="91420" marR="91420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Title: String</a:t>
                      </a:r>
                    </a:p>
                  </a:txBody>
                  <a:tcPr marL="91420" marR="91420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Content: String</a:t>
                      </a:r>
                    </a:p>
                  </a:txBody>
                  <a:tcPr marL="91420" marR="91420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Content Placeholder 8">
            <a:extLst>
              <a:ext uri="{FF2B5EF4-FFF2-40B4-BE49-F238E27FC236}">
                <a16:creationId xmlns:a16="http://schemas.microsoft.com/office/drawing/2014/main" id="{61176ECC-5443-46EA-9B66-FA5B057A8FB7}"/>
              </a:ext>
            </a:extLst>
          </p:cNvPr>
          <p:cNvGraphicFramePr>
            <a:graphicFrameLocks/>
          </p:cNvGraphicFramePr>
          <p:nvPr/>
        </p:nvGraphicFramePr>
        <p:xfrm>
          <a:off x="9032875" y="1481138"/>
          <a:ext cx="3068638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VnExpressAdapter</a:t>
                      </a:r>
                      <a:endParaRPr lang="en-US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- </a:t>
                      </a:r>
                      <a:r>
                        <a:rPr lang="en-US" sz="1800" dirty="0" err="1"/>
                        <a:t>vnService</a:t>
                      </a:r>
                      <a:r>
                        <a:rPr lang="en-US" sz="1800" dirty="0"/>
                        <a:t>: </a:t>
                      </a:r>
                      <a:r>
                        <a:rPr lang="en-US" sz="1800" dirty="0" err="1"/>
                        <a:t>VnExpressService</a:t>
                      </a:r>
                      <a:endParaRPr lang="en-US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GetCategories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34" marB="45734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GetNewsList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34" marB="45734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GetNewsDetail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34" marB="4573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Content Placeholder 8">
            <a:extLst>
              <a:ext uri="{FF2B5EF4-FFF2-40B4-BE49-F238E27FC236}">
                <a16:creationId xmlns:a16="http://schemas.microsoft.com/office/drawing/2014/main" id="{070F071E-0DBB-47FA-9023-0F6F280A1D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9765658"/>
              </p:ext>
            </p:extLst>
          </p:nvPr>
        </p:nvGraphicFramePr>
        <p:xfrm>
          <a:off x="7972932" y="3597275"/>
          <a:ext cx="3836230" cy="1482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6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VNExpressService</a:t>
                      </a:r>
                      <a:endParaRPr lang="en-US" sz="1800" dirty="0"/>
                    </a:p>
                  </a:txBody>
                  <a:tcPr marL="91405" marR="91405" marT="45701" marB="4570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retrieveCats</a:t>
                      </a:r>
                      <a:r>
                        <a:rPr lang="en-US" sz="1800" dirty="0"/>
                        <a:t>(): </a:t>
                      </a:r>
                      <a:r>
                        <a:rPr lang="en-US" sz="1800" dirty="0" err="1"/>
                        <a:t>VECat</a:t>
                      </a:r>
                      <a:r>
                        <a:rPr lang="en-US" sz="1800" dirty="0"/>
                        <a:t>[]</a:t>
                      </a:r>
                    </a:p>
                  </a:txBody>
                  <a:tcPr marL="91405" marR="91405" marT="45734" marB="45734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retrieveNews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catID</a:t>
                      </a:r>
                      <a:r>
                        <a:rPr lang="en-US" sz="1800" dirty="0"/>
                        <a:t>: int): </a:t>
                      </a:r>
                      <a:r>
                        <a:rPr lang="en-US" sz="1800" dirty="0" err="1"/>
                        <a:t>VENews</a:t>
                      </a:r>
                      <a:r>
                        <a:rPr lang="en-US" sz="1800" dirty="0"/>
                        <a:t>[]</a:t>
                      </a:r>
                    </a:p>
                  </a:txBody>
                  <a:tcPr marL="91405" marR="91405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+ </a:t>
                      </a:r>
                      <a:r>
                        <a:rPr lang="en-US" sz="1800" dirty="0" err="1"/>
                        <a:t>GetNewsDetail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L="91405" marR="91405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D99A21C-4272-45AB-859E-AD6562D8B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833960"/>
              </p:ext>
            </p:extLst>
          </p:nvPr>
        </p:nvGraphicFramePr>
        <p:xfrm>
          <a:off x="9653588" y="5287128"/>
          <a:ext cx="1856579" cy="138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VNCat</a:t>
                      </a:r>
                    </a:p>
                  </a:txBody>
                  <a:tcPr marT="45733" marB="4573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Id: int</a:t>
                      </a:r>
                    </a:p>
                  </a:txBody>
                  <a:tcPr marT="45733" marB="45733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Title: String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- content: String</a:t>
                      </a:r>
                      <a:endParaRPr lang="en-VN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D5EEDE7-93B2-4AC7-8289-F6F986D90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189374"/>
              </p:ext>
            </p:extLst>
          </p:nvPr>
        </p:nvGraphicFramePr>
        <p:xfrm>
          <a:off x="7516020" y="5233988"/>
          <a:ext cx="1856580" cy="1479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159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VNNews</a:t>
                      </a:r>
                    </a:p>
                  </a:txBody>
                  <a:tcPr marL="91482" marR="91482" marT="45759" marB="4575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59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Id: int</a:t>
                      </a:r>
                    </a:p>
                  </a:txBody>
                  <a:tcPr marL="91482" marR="91482" marT="45759" marB="45759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59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headline</a:t>
                      </a:r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: String</a:t>
                      </a:r>
                    </a:p>
                  </a:txBody>
                  <a:tcPr marL="91482" marR="91482" marT="45759" marB="45759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074">
                <a:tc>
                  <a:txBody>
                    <a:bodyPr/>
                    <a:lstStyle/>
                    <a:p>
                      <a:r>
                        <a:rPr lang="en-VN" sz="1800" b="0" dirty="0">
                          <a:solidFill>
                            <a:schemeClr val="tx1"/>
                          </a:solidFill>
                        </a:rPr>
                        <a:t>- Content: String</a:t>
                      </a:r>
                    </a:p>
                  </a:txBody>
                  <a:tcPr marL="91482" marR="91482" marT="45759" marB="45759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6C827C-F26F-4509-AA3B-406848A2F6D2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9891047" y="3260725"/>
            <a:ext cx="0" cy="3365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81F254-BC68-4F16-86B7-F152779E9D11}"/>
              </a:ext>
            </a:extLst>
          </p:cNvPr>
          <p:cNvCxnSpPr>
            <a:cxnSpLocks/>
          </p:cNvCxnSpPr>
          <p:nvPr/>
        </p:nvCxnSpPr>
        <p:spPr>
          <a:xfrm flipV="1">
            <a:off x="9839325" y="1230313"/>
            <a:ext cx="0" cy="2762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3B1331-0448-439C-AC88-C668547FAD22}"/>
              </a:ext>
            </a:extLst>
          </p:cNvPr>
          <p:cNvCxnSpPr>
            <a:cxnSpLocks/>
          </p:cNvCxnSpPr>
          <p:nvPr/>
        </p:nvCxnSpPr>
        <p:spPr>
          <a:xfrm flipV="1">
            <a:off x="4773613" y="1143000"/>
            <a:ext cx="0" cy="2762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8CD4FD-18A9-4521-9EF5-072F0FFE818C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773613" y="898912"/>
            <a:ext cx="373062" cy="2440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9D86EF-56A1-4B08-9C59-DE7964EC7A67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9653585" y="898912"/>
            <a:ext cx="185742" cy="3552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F03691-C110-4293-8965-B16EECC92E21}"/>
              </a:ext>
            </a:extLst>
          </p:cNvPr>
          <p:cNvCxnSpPr>
            <a:cxnSpLocks/>
          </p:cNvCxnSpPr>
          <p:nvPr/>
        </p:nvCxnSpPr>
        <p:spPr>
          <a:xfrm flipV="1">
            <a:off x="10361613" y="4964113"/>
            <a:ext cx="0" cy="307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550F01-BF31-49B0-8CFA-CD042AEF898F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>
            <a:off x="9372600" y="5973763"/>
            <a:ext cx="280988" cy="43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A8AE77-8F1B-42BA-B77A-48306780D886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>
            <a:off x="5483225" y="5971381"/>
            <a:ext cx="304800" cy="5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FFD5EC7-AB92-468E-897D-A9A7F5C0D484}"/>
              </a:ext>
            </a:extLst>
          </p:cNvPr>
          <p:cNvCxnSpPr>
            <a:endCxn id="4" idx="1"/>
          </p:cNvCxnSpPr>
          <p:nvPr/>
        </p:nvCxnSpPr>
        <p:spPr>
          <a:xfrm flipV="1">
            <a:off x="838200" y="898912"/>
            <a:ext cx="4308475" cy="127783"/>
          </a:xfrm>
          <a:prstGeom prst="bentConnector3">
            <a:avLst>
              <a:gd name="adj1" fmla="val 5148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47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95DF-D24E-49BD-823E-46FC942E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645E4-0BCB-4283-AD10-66B600099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NewsDAO</a:t>
            </a:r>
            <a:r>
              <a:rPr lang="en-US" dirty="0"/>
              <a:t>: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database </a:t>
            </a:r>
            <a:r>
              <a:rPr lang="en-US" dirty="0" err="1"/>
              <a:t>lên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1992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830</Words>
  <Application>Microsoft Office PowerPoint</Application>
  <PresentationFormat>Widescreen</PresentationFormat>
  <Paragraphs>171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Wingdings</vt:lpstr>
      <vt:lpstr>Office Theme</vt:lpstr>
      <vt:lpstr>Lab 08 Adapter</vt:lpstr>
      <vt:lpstr>Nội dung</vt:lpstr>
      <vt:lpstr>Mẫu Adapter Pattern</vt:lpstr>
      <vt:lpstr>Bài 01 – Cài đặt lại bài “simple FTP” trong slide để hiểu cách tạo Adapter</vt:lpstr>
      <vt:lpstr>Bài 01 – Cài đặt lại bài “simple FTP” trong slide để hiểu cách tạo Adapter</vt:lpstr>
      <vt:lpstr>Bài 01 – Cài đặt lại bài “simple FTP” trong slide để hiểu cách tạo Adapter</vt:lpstr>
      <vt:lpstr>Bài 02</vt:lpstr>
      <vt:lpstr>Bài 02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 Template Method</dc:title>
  <dc:creator>admin</dc:creator>
  <cp:lastModifiedBy>admin</cp:lastModifiedBy>
  <cp:revision>43</cp:revision>
  <dcterms:created xsi:type="dcterms:W3CDTF">2026-01-23T06:36:43Z</dcterms:created>
  <dcterms:modified xsi:type="dcterms:W3CDTF">2026-04-03T06:47:59Z</dcterms:modified>
</cp:coreProperties>
</file>